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hanga One" panose="020B0604020202020204" charset="0"/>
      <p:regular r:id="rId13"/>
      <p:italic r:id="rId14"/>
    </p:embeddedFont>
    <p:embeddedFont>
      <p:font typeface="Merriweather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9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1488e572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b1488e572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1488e572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b1488e572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1488e572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b1488e572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488e5721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1488e572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1488e572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b1488e572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catalog.data.gov/dataset/adoptable-pet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103496" y="2467077"/>
            <a:ext cx="10080900" cy="45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34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Adoptable Pets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85" name="Google Shape;85;p13"/>
          <p:cNvSpPr/>
          <p:nvPr/>
        </p:nvSpPr>
        <p:spPr>
          <a:xfrm rot="2051556">
            <a:off x="-1619647" y="6810969"/>
            <a:ext cx="4537130" cy="5260440"/>
          </a:xfrm>
          <a:custGeom>
            <a:avLst/>
            <a:gdLst/>
            <a:ahLst/>
            <a:cxnLst/>
            <a:rect l="l" t="t" r="r" b="b"/>
            <a:pathLst>
              <a:path w="4537130" h="5260440" extrusionOk="0">
                <a:moveTo>
                  <a:pt x="0" y="0"/>
                </a:moveTo>
                <a:lnTo>
                  <a:pt x="4537130" y="0"/>
                </a:lnTo>
                <a:lnTo>
                  <a:pt x="4537130" y="5260440"/>
                </a:lnTo>
                <a:lnTo>
                  <a:pt x="0" y="5260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-7479565">
            <a:off x="15478678" y="-1617387"/>
            <a:ext cx="4631200" cy="6144213"/>
          </a:xfrm>
          <a:custGeom>
            <a:avLst/>
            <a:gdLst/>
            <a:ahLst/>
            <a:cxnLst/>
            <a:rect l="l" t="t" r="r" b="b"/>
            <a:pathLst>
              <a:path w="4631200" h="6144213" extrusionOk="0">
                <a:moveTo>
                  <a:pt x="0" y="0"/>
                </a:moveTo>
                <a:lnTo>
                  <a:pt x="4631200" y="0"/>
                </a:lnTo>
                <a:lnTo>
                  <a:pt x="4631200" y="6144213"/>
                </a:lnTo>
                <a:lnTo>
                  <a:pt x="0" y="6144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 rot="8418075">
            <a:off x="4737" y="-1807531"/>
            <a:ext cx="3339098" cy="5049675"/>
          </a:xfrm>
          <a:custGeom>
            <a:avLst/>
            <a:gdLst/>
            <a:ahLst/>
            <a:cxnLst/>
            <a:rect l="l" t="t" r="r" b="b"/>
            <a:pathLst>
              <a:path w="3339098" h="5049675" extrusionOk="0">
                <a:moveTo>
                  <a:pt x="0" y="0"/>
                </a:moveTo>
                <a:lnTo>
                  <a:pt x="3339098" y="0"/>
                </a:lnTo>
                <a:lnTo>
                  <a:pt x="3339098" y="5049676"/>
                </a:lnTo>
                <a:lnTo>
                  <a:pt x="0" y="5049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 rot="-2929071">
            <a:off x="15139871" y="7170846"/>
            <a:ext cx="3969827" cy="4962284"/>
          </a:xfrm>
          <a:custGeom>
            <a:avLst/>
            <a:gdLst/>
            <a:ahLst/>
            <a:cxnLst/>
            <a:rect l="l" t="t" r="r" b="b"/>
            <a:pathLst>
              <a:path w="3969827" h="4962284" extrusionOk="0">
                <a:moveTo>
                  <a:pt x="0" y="0"/>
                </a:moveTo>
                <a:lnTo>
                  <a:pt x="3969827" y="0"/>
                </a:lnTo>
                <a:lnTo>
                  <a:pt x="3969827" y="4962284"/>
                </a:lnTo>
                <a:lnTo>
                  <a:pt x="0" y="4962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 rot="3783878">
            <a:off x="7950077" y="1188783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 rot="-2526217">
            <a:off x="16064644" y="4604709"/>
            <a:ext cx="1456769" cy="1374660"/>
          </a:xfrm>
          <a:custGeom>
            <a:avLst/>
            <a:gdLst/>
            <a:ahLst/>
            <a:cxnLst/>
            <a:rect l="l" t="t" r="r" b="b"/>
            <a:pathLst>
              <a:path w="1456769" h="1374660" extrusionOk="0">
                <a:moveTo>
                  <a:pt x="0" y="0"/>
                </a:moveTo>
                <a:lnTo>
                  <a:pt x="1456769" y="0"/>
                </a:lnTo>
                <a:lnTo>
                  <a:pt x="1456769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 rot="-2526217">
            <a:off x="7428821" y="8940779"/>
            <a:ext cx="2246425" cy="2119809"/>
          </a:xfrm>
          <a:custGeom>
            <a:avLst/>
            <a:gdLst/>
            <a:ahLst/>
            <a:cxnLst/>
            <a:rect l="l" t="t" r="r" b="b"/>
            <a:pathLst>
              <a:path w="2246425" h="2119809" extrusionOk="0">
                <a:moveTo>
                  <a:pt x="0" y="0"/>
                </a:moveTo>
                <a:lnTo>
                  <a:pt x="2246425" y="0"/>
                </a:lnTo>
                <a:lnTo>
                  <a:pt x="2246425" y="2119809"/>
                </a:lnTo>
                <a:lnTo>
                  <a:pt x="0" y="2119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526217">
            <a:off x="808695" y="4475822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3"/>
          <p:cNvSpPr txBox="1"/>
          <p:nvPr/>
        </p:nvSpPr>
        <p:spPr>
          <a:xfrm>
            <a:off x="4668515" y="7128505"/>
            <a:ext cx="8951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/>
              <a:t>Exploratory Data Analysis of Shelter Animals</a:t>
            </a:r>
            <a:endParaRPr sz="1200"/>
          </a:p>
        </p:txBody>
      </p:sp>
      <p:sp>
        <p:nvSpPr>
          <p:cNvPr id="94" name="Google Shape;94;p13"/>
          <p:cNvSpPr txBox="1"/>
          <p:nvPr/>
        </p:nvSpPr>
        <p:spPr>
          <a:xfrm>
            <a:off x="4668515" y="7793174"/>
            <a:ext cx="8951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/>
              <a:t>Jismi Mathew - CMP-262-86511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4578525" y="780452"/>
            <a:ext cx="3970252" cy="3479562"/>
          </a:xfrm>
          <a:custGeom>
            <a:avLst/>
            <a:gdLst/>
            <a:ahLst/>
            <a:cxnLst/>
            <a:rect l="l" t="t" r="r" b="b"/>
            <a:pathLst>
              <a:path w="11183808" h="7325394" extrusionOk="0">
                <a:moveTo>
                  <a:pt x="0" y="0"/>
                </a:moveTo>
                <a:lnTo>
                  <a:pt x="11183808" y="0"/>
                </a:lnTo>
                <a:lnTo>
                  <a:pt x="11183808" y="7325395"/>
                </a:lnTo>
                <a:lnTo>
                  <a:pt x="0" y="73253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4"/>
          <p:cNvSpPr txBox="1"/>
          <p:nvPr/>
        </p:nvSpPr>
        <p:spPr>
          <a:xfrm>
            <a:off x="4078200" y="1113632"/>
            <a:ext cx="101316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solidFill>
                  <a:srgbClr val="403027"/>
                </a:solidFill>
                <a:latin typeface="Changa One"/>
                <a:ea typeface="Changa One"/>
                <a:cs typeface="Changa One"/>
                <a:sym typeface="Changa One"/>
              </a:rPr>
              <a:t>Introduction</a:t>
            </a:r>
            <a:endParaRPr sz="1800"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01" name="Google Shape;101;p14"/>
          <p:cNvSpPr/>
          <p:nvPr/>
        </p:nvSpPr>
        <p:spPr>
          <a:xfrm rot="3783878">
            <a:off x="7999096" y="-360730"/>
            <a:ext cx="1343634" cy="1267902"/>
          </a:xfrm>
          <a:custGeom>
            <a:avLst/>
            <a:gdLst/>
            <a:ahLst/>
            <a:cxnLst/>
            <a:rect l="l" t="t" r="r" b="b"/>
            <a:pathLst>
              <a:path w="1343634" h="1267902" extrusionOk="0">
                <a:moveTo>
                  <a:pt x="0" y="0"/>
                </a:moveTo>
                <a:lnTo>
                  <a:pt x="1343634" y="0"/>
                </a:lnTo>
                <a:lnTo>
                  <a:pt x="1343634" y="1267902"/>
                </a:lnTo>
                <a:lnTo>
                  <a:pt x="0" y="1267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 rot="-2523704">
            <a:off x="15095099" y="8716133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p14"/>
          <p:cNvSpPr/>
          <p:nvPr/>
        </p:nvSpPr>
        <p:spPr>
          <a:xfrm rot="-2523704">
            <a:off x="16379696" y="8639103"/>
            <a:ext cx="1424205" cy="1343931"/>
          </a:xfrm>
          <a:custGeom>
            <a:avLst/>
            <a:gdLst/>
            <a:ahLst/>
            <a:cxnLst/>
            <a:rect l="l" t="t" r="r" b="b"/>
            <a:pathLst>
              <a:path w="1424058" h="1343792" extrusionOk="0">
                <a:moveTo>
                  <a:pt x="0" y="0"/>
                </a:moveTo>
                <a:lnTo>
                  <a:pt x="1424057" y="0"/>
                </a:lnTo>
                <a:lnTo>
                  <a:pt x="1424057" y="1343792"/>
                </a:lnTo>
                <a:lnTo>
                  <a:pt x="0" y="1343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14"/>
          <p:cNvSpPr txBox="1"/>
          <p:nvPr/>
        </p:nvSpPr>
        <p:spPr>
          <a:xfrm>
            <a:off x="1893900" y="2501075"/>
            <a:ext cx="14500200" cy="5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US" sz="4300" b="1" dirty="0">
                <a:latin typeface="Merriweather"/>
                <a:ea typeface="Merriweather"/>
                <a:cs typeface="Merriweather"/>
                <a:sym typeface="Merriweather"/>
              </a:rPr>
              <a:t>Purpose:</a:t>
            </a:r>
            <a:endParaRPr sz="4300" b="1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 pitchFamily="34" charset="0"/>
              <a:buChar char="•"/>
            </a:pPr>
            <a:r>
              <a:rPr lang="en-US" sz="4300" dirty="0">
                <a:latin typeface="Merriweather"/>
                <a:ea typeface="Merriweather"/>
                <a:cs typeface="Merriweather"/>
                <a:sym typeface="Merriweather"/>
              </a:rPr>
              <a:t>identify trends that impact shelter operations</a:t>
            </a:r>
            <a:endParaRPr sz="4300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4300" b="1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US" sz="4300" b="1" dirty="0">
                <a:latin typeface="Merriweather"/>
                <a:ea typeface="Merriweather"/>
                <a:cs typeface="Merriweather"/>
                <a:sym typeface="Merriweather"/>
              </a:rPr>
              <a:t>Questions being explored:</a:t>
            </a:r>
            <a:endParaRPr sz="4300" b="1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50165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4300"/>
              <a:buFont typeface="Merriweather"/>
              <a:buAutoNum type="arabicPeriod"/>
            </a:pPr>
            <a:r>
              <a:rPr lang="en-US" sz="4300" dirty="0">
                <a:latin typeface="Merriweather"/>
                <a:ea typeface="Merriweather"/>
                <a:cs typeface="Merriweather"/>
                <a:sym typeface="Merriweather"/>
              </a:rPr>
              <a:t>What types of animals are most common in the shelter?</a:t>
            </a:r>
            <a:endParaRPr sz="4300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50165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4300"/>
              <a:buFont typeface="Merriweather"/>
              <a:buAutoNum type="arabicPeriod"/>
            </a:pPr>
            <a:r>
              <a:rPr lang="en-US" sz="4300" dirty="0">
                <a:latin typeface="Merriweather"/>
                <a:ea typeface="Merriweather"/>
                <a:cs typeface="Merriweather"/>
                <a:sym typeface="Merriweather"/>
              </a:rPr>
              <a:t>Does pet size vary by animal type?</a:t>
            </a:r>
            <a:endParaRPr sz="4300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50165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4300"/>
              <a:buFont typeface="Merriweather"/>
              <a:buAutoNum type="arabicPeriod"/>
            </a:pPr>
            <a:r>
              <a:rPr lang="en-US" sz="4300" dirty="0">
                <a:latin typeface="Merriweather"/>
                <a:ea typeface="Merriweather"/>
                <a:cs typeface="Merriweather"/>
                <a:sym typeface="Merriweather"/>
              </a:rPr>
              <a:t>What is the age distribution of animals in the shelter?</a:t>
            </a:r>
            <a:endParaRPr sz="4300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marR="0" lvl="0" indent="-501650" algn="l" rtl="0">
              <a:lnSpc>
                <a:spcPct val="98969"/>
              </a:lnSpc>
              <a:spcBef>
                <a:spcPts val="0"/>
              </a:spcBef>
              <a:spcAft>
                <a:spcPts val="0"/>
              </a:spcAft>
              <a:buSzPts val="4300"/>
              <a:buFont typeface="Merriweather"/>
              <a:buAutoNum type="arabicPeriod"/>
            </a:pPr>
            <a:r>
              <a:rPr lang="en-US" sz="4300" dirty="0">
                <a:latin typeface="Merriweather"/>
                <a:ea typeface="Merriweather"/>
                <a:cs typeface="Merriweather"/>
                <a:sym typeface="Merriweather"/>
              </a:rPr>
              <a:t>Does animal age vary by animal type?</a:t>
            </a:r>
            <a:endParaRPr sz="4300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13126075" y="3018625"/>
            <a:ext cx="4459356" cy="3327794"/>
          </a:xfrm>
          <a:custGeom>
            <a:avLst/>
            <a:gdLst/>
            <a:ahLst/>
            <a:cxnLst/>
            <a:rect l="l" t="t" r="r" b="b"/>
            <a:pathLst>
              <a:path w="11010756" h="6689034" extrusionOk="0">
                <a:moveTo>
                  <a:pt x="0" y="0"/>
                </a:moveTo>
                <a:lnTo>
                  <a:pt x="11010756" y="0"/>
                </a:lnTo>
                <a:lnTo>
                  <a:pt x="11010756" y="6689034"/>
                </a:lnTo>
                <a:lnTo>
                  <a:pt x="0" y="66890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15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Methodology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307600" y="3018617"/>
            <a:ext cx="13672800" cy="5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Dataset: 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Adoptable Pets 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Source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Data.gov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Format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CSV file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Total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77 animal records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Unit of analysis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individual animal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Key features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Animal type, Size, Age, Intake date</a:t>
            </a:r>
            <a:br>
              <a:rPr lang="en-US" sz="3799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3799" b="1">
                <a:latin typeface="Merriweather"/>
                <a:ea typeface="Merriweather"/>
                <a:cs typeface="Merriweather"/>
                <a:sym typeface="Merriweather"/>
              </a:rPr>
              <a:t>Tools used</a:t>
            </a:r>
            <a:r>
              <a:rPr lang="en-US" sz="3799">
                <a:latin typeface="Merriweather"/>
                <a:ea typeface="Merriweather"/>
                <a:cs typeface="Merriweather"/>
                <a:sym typeface="Merriweather"/>
              </a:rPr>
              <a:t>: Jupyter Notebook (Python), Pandas, Matplotlib &amp; Seaborn</a:t>
            </a:r>
            <a:endParaRPr sz="3799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" name="Google Shape;112;p15"/>
          <p:cNvSpPr/>
          <p:nvPr/>
        </p:nvSpPr>
        <p:spPr>
          <a:xfrm rot="3783878">
            <a:off x="15723979" y="1392918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 rot="-2523704">
            <a:off x="848186" y="1803960"/>
            <a:ext cx="1404443" cy="1325284"/>
          </a:xfrm>
          <a:custGeom>
            <a:avLst/>
            <a:gdLst/>
            <a:ahLst/>
            <a:cxnLst/>
            <a:rect l="l" t="t" r="r" b="b"/>
            <a:pathLst>
              <a:path w="1404298" h="1325147" extrusionOk="0">
                <a:moveTo>
                  <a:pt x="0" y="0"/>
                </a:moveTo>
                <a:lnTo>
                  <a:pt x="1404298" y="0"/>
                </a:lnTo>
                <a:lnTo>
                  <a:pt x="1404298" y="1325147"/>
                </a:lnTo>
                <a:lnTo>
                  <a:pt x="0" y="1325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 rot="-2526217">
            <a:off x="16005419" y="8855832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5" y="0"/>
                </a:lnTo>
                <a:lnTo>
                  <a:pt x="853015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15333912" y="7692197"/>
            <a:ext cx="3684246" cy="2822395"/>
          </a:xfrm>
          <a:custGeom>
            <a:avLst/>
            <a:gdLst/>
            <a:ahLst/>
            <a:cxnLst/>
            <a:rect l="l" t="t" r="r" b="b"/>
            <a:pathLst>
              <a:path w="6015095" h="4105302" extrusionOk="0">
                <a:moveTo>
                  <a:pt x="0" y="0"/>
                </a:moveTo>
                <a:lnTo>
                  <a:pt x="6015095" y="0"/>
                </a:lnTo>
                <a:lnTo>
                  <a:pt x="6015095" y="4105302"/>
                </a:lnTo>
                <a:lnTo>
                  <a:pt x="0" y="41053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16"/>
          <p:cNvSpPr/>
          <p:nvPr/>
        </p:nvSpPr>
        <p:spPr>
          <a:xfrm rot="3783878">
            <a:off x="16749536" y="626232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16"/>
          <p:cNvSpPr/>
          <p:nvPr/>
        </p:nvSpPr>
        <p:spPr>
          <a:xfrm rot="-2523704">
            <a:off x="251870" y="626192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p16"/>
          <p:cNvSpPr/>
          <p:nvPr/>
        </p:nvSpPr>
        <p:spPr>
          <a:xfrm rot="-2526217">
            <a:off x="6242666" y="-501976"/>
            <a:ext cx="1809008" cy="1707046"/>
          </a:xfrm>
          <a:custGeom>
            <a:avLst/>
            <a:gdLst/>
            <a:ahLst/>
            <a:cxnLst/>
            <a:rect l="l" t="t" r="r" b="b"/>
            <a:pathLst>
              <a:path w="1809008" h="1707046" extrusionOk="0">
                <a:moveTo>
                  <a:pt x="0" y="0"/>
                </a:moveTo>
                <a:lnTo>
                  <a:pt x="1809008" y="0"/>
                </a:lnTo>
                <a:lnTo>
                  <a:pt x="1809008" y="1707046"/>
                </a:lnTo>
                <a:lnTo>
                  <a:pt x="0" y="170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16"/>
          <p:cNvSpPr/>
          <p:nvPr/>
        </p:nvSpPr>
        <p:spPr>
          <a:xfrm rot="-2523704">
            <a:off x="-246483" y="9075848"/>
            <a:ext cx="1849812" cy="1745550"/>
          </a:xfrm>
          <a:custGeom>
            <a:avLst/>
            <a:gdLst/>
            <a:ahLst/>
            <a:cxnLst/>
            <a:rect l="l" t="t" r="r" b="b"/>
            <a:pathLst>
              <a:path w="1849621" h="1745370" extrusionOk="0">
                <a:moveTo>
                  <a:pt x="0" y="0"/>
                </a:moveTo>
                <a:lnTo>
                  <a:pt x="1849622" y="0"/>
                </a:lnTo>
                <a:lnTo>
                  <a:pt x="1849622" y="1745370"/>
                </a:lnTo>
                <a:lnTo>
                  <a:pt x="0" y="174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4" name="Google Shape;124;p16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Results - Q1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909333" y="2901499"/>
            <a:ext cx="10631434" cy="6404662"/>
            <a:chOff x="866475" y="2839075"/>
            <a:chExt cx="8234400" cy="4960624"/>
          </a:xfrm>
        </p:grpSpPr>
        <p:sp>
          <p:nvSpPr>
            <p:cNvPr id="126" name="Google Shape;126;p16"/>
            <p:cNvSpPr/>
            <p:nvPr/>
          </p:nvSpPr>
          <p:spPr>
            <a:xfrm>
              <a:off x="866475" y="2839075"/>
              <a:ext cx="8234400" cy="4960500"/>
            </a:xfrm>
            <a:prstGeom prst="rect">
              <a:avLst/>
            </a:prstGeom>
            <a:solidFill>
              <a:schemeClr val="lt1"/>
            </a:solidFill>
            <a:ln w="123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8025" tIns="118025" rIns="118025" bIns="1180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7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7" name="Google Shape;127;p16" title="animalsbytyp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51275" y="2901500"/>
              <a:ext cx="7903900" cy="4898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6"/>
          <p:cNvSpPr txBox="1"/>
          <p:nvPr/>
        </p:nvSpPr>
        <p:spPr>
          <a:xfrm>
            <a:off x="11774125" y="3454565"/>
            <a:ext cx="6286200" cy="424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Cats and dogs make up the majority of animals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Cats appear slightly more often than dogs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Birds and other animals are rare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 rot="3786892">
            <a:off x="16748654" y="626192"/>
            <a:ext cx="853574" cy="805463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 rot="-2523704">
            <a:off x="251870" y="626192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5" name="Google Shape;135;p17"/>
          <p:cNvSpPr/>
          <p:nvPr/>
        </p:nvSpPr>
        <p:spPr>
          <a:xfrm rot="-2523704">
            <a:off x="6242681" y="-501152"/>
            <a:ext cx="1809195" cy="1707222"/>
          </a:xfrm>
          <a:custGeom>
            <a:avLst/>
            <a:gdLst/>
            <a:ahLst/>
            <a:cxnLst/>
            <a:rect l="l" t="t" r="r" b="b"/>
            <a:pathLst>
              <a:path w="1809008" h="1707046" extrusionOk="0">
                <a:moveTo>
                  <a:pt x="0" y="0"/>
                </a:moveTo>
                <a:lnTo>
                  <a:pt x="1809008" y="0"/>
                </a:lnTo>
                <a:lnTo>
                  <a:pt x="1809008" y="1707046"/>
                </a:lnTo>
                <a:lnTo>
                  <a:pt x="0" y="170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6" name="Google Shape;136;p17"/>
          <p:cNvSpPr/>
          <p:nvPr/>
        </p:nvSpPr>
        <p:spPr>
          <a:xfrm rot="-2523704">
            <a:off x="-246483" y="9075848"/>
            <a:ext cx="1849812" cy="1745550"/>
          </a:xfrm>
          <a:custGeom>
            <a:avLst/>
            <a:gdLst/>
            <a:ahLst/>
            <a:cxnLst/>
            <a:rect l="l" t="t" r="r" b="b"/>
            <a:pathLst>
              <a:path w="1849621" h="1745370" extrusionOk="0">
                <a:moveTo>
                  <a:pt x="0" y="0"/>
                </a:moveTo>
                <a:lnTo>
                  <a:pt x="1849622" y="0"/>
                </a:lnTo>
                <a:lnTo>
                  <a:pt x="1849622" y="1745370"/>
                </a:lnTo>
                <a:lnTo>
                  <a:pt x="0" y="174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17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Results - Q2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59207" y="3966266"/>
            <a:ext cx="5818147" cy="495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Dogs show the widest range of sizes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Cats are mostly small to medium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Other animals are almost entirely small or medium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9" name="Google Shape;139;p17"/>
          <p:cNvSpPr/>
          <p:nvPr/>
        </p:nvSpPr>
        <p:spPr>
          <a:xfrm rot="1505775">
            <a:off x="6833" y="90864"/>
            <a:ext cx="2548587" cy="3368360"/>
          </a:xfrm>
          <a:custGeom>
            <a:avLst/>
            <a:gdLst/>
            <a:ahLst/>
            <a:cxnLst/>
            <a:rect l="l" t="t" r="r" b="b"/>
            <a:pathLst>
              <a:path w="5843016" h="8229600" extrusionOk="0">
                <a:moveTo>
                  <a:pt x="0" y="0"/>
                </a:moveTo>
                <a:lnTo>
                  <a:pt x="5843016" y="0"/>
                </a:lnTo>
                <a:lnTo>
                  <a:pt x="5843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0" name="Google Shape;140;p17"/>
          <p:cNvGrpSpPr/>
          <p:nvPr/>
        </p:nvGrpSpPr>
        <p:grpSpPr>
          <a:xfrm>
            <a:off x="6701162" y="3178062"/>
            <a:ext cx="11211079" cy="5688448"/>
            <a:chOff x="6673650" y="2992700"/>
            <a:chExt cx="8295900" cy="4209300"/>
          </a:xfrm>
        </p:grpSpPr>
        <p:sp>
          <p:nvSpPr>
            <p:cNvPr id="141" name="Google Shape;141;p17"/>
            <p:cNvSpPr/>
            <p:nvPr/>
          </p:nvSpPr>
          <p:spPr>
            <a:xfrm>
              <a:off x="6673650" y="2992700"/>
              <a:ext cx="8295900" cy="4209300"/>
            </a:xfrm>
            <a:prstGeom prst="rect">
              <a:avLst/>
            </a:prstGeom>
            <a:solidFill>
              <a:schemeClr val="lt1"/>
            </a:solidFill>
            <a:ln w="128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550" tIns="123550" rIns="123550" bIns="1235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91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2" name="Google Shape;142;p17" title="petsizedistributionbytyp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21275" y="3053901"/>
              <a:ext cx="8153400" cy="40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 rot="3786892">
            <a:off x="16748654" y="626192"/>
            <a:ext cx="853574" cy="805463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18"/>
          <p:cNvSpPr/>
          <p:nvPr/>
        </p:nvSpPr>
        <p:spPr>
          <a:xfrm rot="-2523704">
            <a:off x="251870" y="626192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9" name="Google Shape;149;p18"/>
          <p:cNvSpPr/>
          <p:nvPr/>
        </p:nvSpPr>
        <p:spPr>
          <a:xfrm rot="-2523704">
            <a:off x="6242681" y="-501152"/>
            <a:ext cx="1809195" cy="1707222"/>
          </a:xfrm>
          <a:custGeom>
            <a:avLst/>
            <a:gdLst/>
            <a:ahLst/>
            <a:cxnLst/>
            <a:rect l="l" t="t" r="r" b="b"/>
            <a:pathLst>
              <a:path w="1809008" h="1707046" extrusionOk="0">
                <a:moveTo>
                  <a:pt x="0" y="0"/>
                </a:moveTo>
                <a:lnTo>
                  <a:pt x="1809008" y="0"/>
                </a:lnTo>
                <a:lnTo>
                  <a:pt x="1809008" y="1707046"/>
                </a:lnTo>
                <a:lnTo>
                  <a:pt x="0" y="170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0" name="Google Shape;150;p18"/>
          <p:cNvSpPr/>
          <p:nvPr/>
        </p:nvSpPr>
        <p:spPr>
          <a:xfrm rot="-2523704">
            <a:off x="-246483" y="9075848"/>
            <a:ext cx="1849812" cy="1745550"/>
          </a:xfrm>
          <a:custGeom>
            <a:avLst/>
            <a:gdLst/>
            <a:ahLst/>
            <a:cxnLst/>
            <a:rect l="l" t="t" r="r" b="b"/>
            <a:pathLst>
              <a:path w="1849621" h="1745370" extrusionOk="0">
                <a:moveTo>
                  <a:pt x="0" y="0"/>
                </a:moveTo>
                <a:lnTo>
                  <a:pt x="1849622" y="0"/>
                </a:lnTo>
                <a:lnTo>
                  <a:pt x="1849622" y="1745370"/>
                </a:lnTo>
                <a:lnTo>
                  <a:pt x="0" y="174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18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Results - Q3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909333" y="2901499"/>
            <a:ext cx="10631400" cy="6404400"/>
          </a:xfrm>
          <a:prstGeom prst="rect">
            <a:avLst/>
          </a:prstGeom>
          <a:solidFill>
            <a:schemeClr val="lt1"/>
          </a:solidFill>
          <a:ln w="12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025" tIns="118025" rIns="118025" bIns="118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1927754" y="3521177"/>
            <a:ext cx="5953500" cy="353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Most animals are between 1–4 years old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Peak around ages 2–3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Very few senior animals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4" name="Google Shape;154;p18" title="agedistribtu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583" y="2901504"/>
            <a:ext cx="10334571" cy="640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12419353" y="7168026"/>
            <a:ext cx="4696979" cy="2532037"/>
          </a:xfrm>
          <a:custGeom>
            <a:avLst/>
            <a:gdLst/>
            <a:ahLst/>
            <a:cxnLst/>
            <a:rect l="l" t="t" r="r" b="b"/>
            <a:pathLst>
              <a:path w="7575773" h="4384479" extrusionOk="0">
                <a:moveTo>
                  <a:pt x="0" y="0"/>
                </a:moveTo>
                <a:lnTo>
                  <a:pt x="7575774" y="0"/>
                </a:lnTo>
                <a:lnTo>
                  <a:pt x="7575774" y="4384479"/>
                </a:lnTo>
                <a:lnTo>
                  <a:pt x="0" y="4384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 rot="3786892">
            <a:off x="16748654" y="626192"/>
            <a:ext cx="853574" cy="805463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1" name="Google Shape;161;p19"/>
          <p:cNvSpPr/>
          <p:nvPr/>
        </p:nvSpPr>
        <p:spPr>
          <a:xfrm rot="-2523704">
            <a:off x="251870" y="626192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19"/>
          <p:cNvSpPr/>
          <p:nvPr/>
        </p:nvSpPr>
        <p:spPr>
          <a:xfrm rot="-2523704">
            <a:off x="6242681" y="-501152"/>
            <a:ext cx="1809195" cy="1707222"/>
          </a:xfrm>
          <a:custGeom>
            <a:avLst/>
            <a:gdLst/>
            <a:ahLst/>
            <a:cxnLst/>
            <a:rect l="l" t="t" r="r" b="b"/>
            <a:pathLst>
              <a:path w="1809008" h="1707046" extrusionOk="0">
                <a:moveTo>
                  <a:pt x="0" y="0"/>
                </a:moveTo>
                <a:lnTo>
                  <a:pt x="1809008" y="0"/>
                </a:lnTo>
                <a:lnTo>
                  <a:pt x="1809008" y="1707046"/>
                </a:lnTo>
                <a:lnTo>
                  <a:pt x="0" y="170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3" name="Google Shape;163;p19"/>
          <p:cNvSpPr/>
          <p:nvPr/>
        </p:nvSpPr>
        <p:spPr>
          <a:xfrm rot="-2523704">
            <a:off x="-246483" y="9075848"/>
            <a:ext cx="1849812" cy="1745550"/>
          </a:xfrm>
          <a:custGeom>
            <a:avLst/>
            <a:gdLst/>
            <a:ahLst/>
            <a:cxnLst/>
            <a:rect l="l" t="t" r="r" b="b"/>
            <a:pathLst>
              <a:path w="1849621" h="1745370" extrusionOk="0">
                <a:moveTo>
                  <a:pt x="0" y="0"/>
                </a:moveTo>
                <a:lnTo>
                  <a:pt x="1849622" y="0"/>
                </a:lnTo>
                <a:lnTo>
                  <a:pt x="1849622" y="1745370"/>
                </a:lnTo>
                <a:lnTo>
                  <a:pt x="0" y="174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19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Results - Q4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59207" y="3812635"/>
            <a:ext cx="6286200" cy="495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Cats show the widest age range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Dogs are more consistently young to middle-aged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0" lvl="0" indent="-571500" algn="l" rtl="0">
              <a:lnSpc>
                <a:spcPct val="121005"/>
              </a:lnSpc>
              <a:spcBef>
                <a:spcPts val="0"/>
              </a:spcBef>
              <a:spcAft>
                <a:spcPts val="0"/>
              </a:spcAft>
              <a:buSzPts val="3799"/>
              <a:buFont typeface="Arial" panose="020B0604020202020204" pitchFamily="34" charset="0"/>
              <a:buChar char="•"/>
            </a:pPr>
            <a:r>
              <a:rPr lang="en-US" sz="3799" dirty="0">
                <a:latin typeface="Merriweather"/>
                <a:ea typeface="Merriweather"/>
                <a:cs typeface="Merriweather"/>
                <a:sym typeface="Merriweather"/>
              </a:rPr>
              <a:t>Fewer data points for birds and other animals</a:t>
            </a:r>
            <a:endParaRPr sz="37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7107092" y="3178156"/>
            <a:ext cx="10751277" cy="6082682"/>
            <a:chOff x="6568875" y="3178050"/>
            <a:chExt cx="10054500" cy="5688471"/>
          </a:xfrm>
        </p:grpSpPr>
        <p:sp>
          <p:nvSpPr>
            <p:cNvPr id="167" name="Google Shape;167;p19"/>
            <p:cNvSpPr/>
            <p:nvPr/>
          </p:nvSpPr>
          <p:spPr>
            <a:xfrm>
              <a:off x="6568875" y="3178050"/>
              <a:ext cx="10054500" cy="5688300"/>
            </a:xfrm>
            <a:prstGeom prst="rect">
              <a:avLst/>
            </a:prstGeom>
            <a:solidFill>
              <a:schemeClr val="lt1"/>
            </a:solidFill>
            <a:ln w="137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2125" tIns="132125" rIns="132125" bIns="1321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22"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8" name="Google Shape;168;p19" title="agedistribtuionbyanimal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91790" y="3178071"/>
              <a:ext cx="9552358" cy="5688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19"/>
          <p:cNvSpPr/>
          <p:nvPr/>
        </p:nvSpPr>
        <p:spPr>
          <a:xfrm>
            <a:off x="16253951" y="7251307"/>
            <a:ext cx="3029216" cy="3369833"/>
          </a:xfrm>
          <a:custGeom>
            <a:avLst/>
            <a:gdLst/>
            <a:ahLst/>
            <a:cxnLst/>
            <a:rect l="l" t="t" r="r" b="b"/>
            <a:pathLst>
              <a:path w="7003967" h="8810022" extrusionOk="0">
                <a:moveTo>
                  <a:pt x="0" y="0"/>
                </a:moveTo>
                <a:lnTo>
                  <a:pt x="7003968" y="0"/>
                </a:lnTo>
                <a:lnTo>
                  <a:pt x="7003968" y="8810022"/>
                </a:lnTo>
                <a:lnTo>
                  <a:pt x="0" y="8810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 rot="3783878">
            <a:off x="7996957" y="-120004"/>
            <a:ext cx="1404012" cy="1324877"/>
          </a:xfrm>
          <a:custGeom>
            <a:avLst/>
            <a:gdLst/>
            <a:ahLst/>
            <a:cxnLst/>
            <a:rect l="l" t="t" r="r" b="b"/>
            <a:pathLst>
              <a:path w="1404012" h="1324877" extrusionOk="0">
                <a:moveTo>
                  <a:pt x="0" y="0"/>
                </a:moveTo>
                <a:lnTo>
                  <a:pt x="1404012" y="0"/>
                </a:lnTo>
                <a:lnTo>
                  <a:pt x="1404012" y="1324877"/>
                </a:lnTo>
                <a:lnTo>
                  <a:pt x="0" y="1324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5" name="Google Shape;175;p20"/>
          <p:cNvSpPr/>
          <p:nvPr/>
        </p:nvSpPr>
        <p:spPr>
          <a:xfrm rot="3783878">
            <a:off x="10023118" y="8877848"/>
            <a:ext cx="853014" cy="804935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6" name="Google Shape;176;p20"/>
          <p:cNvSpPr/>
          <p:nvPr/>
        </p:nvSpPr>
        <p:spPr>
          <a:xfrm rot="-2523704">
            <a:off x="15241380" y="1897343"/>
            <a:ext cx="2005452" cy="1892417"/>
          </a:xfrm>
          <a:custGeom>
            <a:avLst/>
            <a:gdLst/>
            <a:ahLst/>
            <a:cxnLst/>
            <a:rect l="l" t="t" r="r" b="b"/>
            <a:pathLst>
              <a:path w="2005245" h="1892222" extrusionOk="0">
                <a:moveTo>
                  <a:pt x="0" y="0"/>
                </a:moveTo>
                <a:lnTo>
                  <a:pt x="2005244" y="0"/>
                </a:lnTo>
                <a:lnTo>
                  <a:pt x="2005244" y="1892222"/>
                </a:lnTo>
                <a:lnTo>
                  <a:pt x="0" y="1892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7" name="Google Shape;177;p20"/>
          <p:cNvSpPr txBox="1"/>
          <p:nvPr/>
        </p:nvSpPr>
        <p:spPr>
          <a:xfrm>
            <a:off x="2982150" y="123290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Future Work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307600" y="3018625"/>
            <a:ext cx="12998400" cy="415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580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99"/>
              <a:buFont typeface="Arial" panose="020B0604020202020204" pitchFamily="34" charset="0"/>
              <a:buChar char="•"/>
            </a:pPr>
            <a:r>
              <a:rPr lang="en-US" sz="4499" dirty="0">
                <a:latin typeface="Merriweather"/>
                <a:ea typeface="Merriweather"/>
                <a:cs typeface="Merriweather"/>
                <a:sym typeface="Merriweather"/>
              </a:rPr>
              <a:t>Analyze adoption outcomes and length of stay</a:t>
            </a:r>
            <a:endParaRPr sz="44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68580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99"/>
              <a:buFont typeface="Arial" panose="020B0604020202020204" pitchFamily="34" charset="0"/>
              <a:buChar char="•"/>
            </a:pPr>
            <a:r>
              <a:rPr lang="en-US" sz="4499" dirty="0">
                <a:latin typeface="Merriweather"/>
                <a:ea typeface="Merriweather"/>
                <a:cs typeface="Merriweather"/>
                <a:sym typeface="Merriweather"/>
              </a:rPr>
              <a:t>Explore breed-level adoption trends</a:t>
            </a:r>
            <a:endParaRPr sz="4499" dirty="0">
              <a:latin typeface="Merriweather"/>
              <a:ea typeface="Merriweather"/>
              <a:cs typeface="Merriweather"/>
              <a:sym typeface="Merriweather"/>
            </a:endParaRPr>
          </a:p>
          <a:p>
            <a:pPr marL="685800" lvl="0" indent="-685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99"/>
              <a:buFont typeface="Arial" panose="020B0604020202020204" pitchFamily="34" charset="0"/>
              <a:buChar char="•"/>
            </a:pPr>
            <a:r>
              <a:rPr lang="en-US" sz="4499" dirty="0">
                <a:latin typeface="Merriweather"/>
                <a:ea typeface="Merriweather"/>
                <a:cs typeface="Merriweather"/>
                <a:sym typeface="Merriweather"/>
              </a:rPr>
              <a:t>Include larger or multi-shelter datasets</a:t>
            </a:r>
            <a:endParaRPr sz="44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2410299" y="4406100"/>
            <a:ext cx="5083688" cy="5744280"/>
          </a:xfrm>
          <a:custGeom>
            <a:avLst/>
            <a:gdLst/>
            <a:ahLst/>
            <a:cxnLst/>
            <a:rect l="l" t="t" r="r" b="b"/>
            <a:pathLst>
              <a:path w="5744280" h="6858842" extrusionOk="0">
                <a:moveTo>
                  <a:pt x="0" y="0"/>
                </a:moveTo>
                <a:lnTo>
                  <a:pt x="5744280" y="0"/>
                </a:lnTo>
                <a:lnTo>
                  <a:pt x="5744280" y="6858842"/>
                </a:lnTo>
                <a:lnTo>
                  <a:pt x="0" y="6858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20"/>
          <p:cNvSpPr/>
          <p:nvPr/>
        </p:nvSpPr>
        <p:spPr>
          <a:xfrm rot="885144">
            <a:off x="1605091" y="7321925"/>
            <a:ext cx="1653697" cy="1446846"/>
          </a:xfrm>
          <a:custGeom>
            <a:avLst/>
            <a:gdLst/>
            <a:ahLst/>
            <a:cxnLst/>
            <a:rect l="l" t="t" r="r" b="b"/>
            <a:pathLst>
              <a:path w="2005245" h="1892222" extrusionOk="0">
                <a:moveTo>
                  <a:pt x="0" y="0"/>
                </a:moveTo>
                <a:lnTo>
                  <a:pt x="2005244" y="0"/>
                </a:lnTo>
                <a:lnTo>
                  <a:pt x="2005244" y="1892222"/>
                </a:lnTo>
                <a:lnTo>
                  <a:pt x="0" y="1892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3814944" y="1272101"/>
            <a:ext cx="4117105" cy="5708291"/>
          </a:xfrm>
          <a:custGeom>
            <a:avLst/>
            <a:gdLst/>
            <a:ahLst/>
            <a:cxnLst/>
            <a:rect l="l" t="t" r="r" b="b"/>
            <a:pathLst>
              <a:path w="4117105" h="5708291" extrusionOk="0">
                <a:moveTo>
                  <a:pt x="0" y="0"/>
                </a:moveTo>
                <a:lnTo>
                  <a:pt x="4117105" y="0"/>
                </a:lnTo>
                <a:lnTo>
                  <a:pt x="4117105" y="5708291"/>
                </a:lnTo>
                <a:lnTo>
                  <a:pt x="0" y="5708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21"/>
          <p:cNvSpPr/>
          <p:nvPr/>
        </p:nvSpPr>
        <p:spPr>
          <a:xfrm>
            <a:off x="1028700" y="3021595"/>
            <a:ext cx="4164806" cy="5715000"/>
          </a:xfrm>
          <a:custGeom>
            <a:avLst/>
            <a:gdLst/>
            <a:ahLst/>
            <a:cxnLst/>
            <a:rect l="l" t="t" r="r" b="b"/>
            <a:pathLst>
              <a:path w="4164806" h="5715000" extrusionOk="0">
                <a:moveTo>
                  <a:pt x="0" y="0"/>
                </a:moveTo>
                <a:lnTo>
                  <a:pt x="4164806" y="0"/>
                </a:lnTo>
                <a:lnTo>
                  <a:pt x="4164806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7" name="Google Shape;187;p21"/>
          <p:cNvSpPr txBox="1"/>
          <p:nvPr/>
        </p:nvSpPr>
        <p:spPr>
          <a:xfrm>
            <a:off x="8738050" y="2619375"/>
            <a:ext cx="8094900" cy="41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0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Questions?</a:t>
            </a:r>
            <a:endParaRPr sz="11300">
              <a:solidFill>
                <a:srgbClr val="925000"/>
              </a:solidFill>
              <a:latin typeface="Changa One"/>
              <a:ea typeface="Changa One"/>
              <a:cs typeface="Changa One"/>
              <a:sym typeface="Changa One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925000"/>
              </a:solidFill>
              <a:latin typeface="Changa One"/>
              <a:ea typeface="Changa One"/>
              <a:cs typeface="Changa One"/>
              <a:sym typeface="Changa One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0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Thank you!</a:t>
            </a:r>
            <a:endParaRPr sz="11300">
              <a:solidFill>
                <a:srgbClr val="925000"/>
              </a:solidFill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188" name="Google Shape;188;p21"/>
          <p:cNvSpPr/>
          <p:nvPr/>
        </p:nvSpPr>
        <p:spPr>
          <a:xfrm rot="3786892">
            <a:off x="16631294" y="747269"/>
            <a:ext cx="853574" cy="805463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21"/>
          <p:cNvSpPr/>
          <p:nvPr/>
        </p:nvSpPr>
        <p:spPr>
          <a:xfrm rot="6438166">
            <a:off x="12300680" y="9009182"/>
            <a:ext cx="1870376" cy="1764955"/>
          </a:xfrm>
          <a:custGeom>
            <a:avLst/>
            <a:gdLst/>
            <a:ahLst/>
            <a:cxnLst/>
            <a:rect l="l" t="t" r="r" b="b"/>
            <a:pathLst>
              <a:path w="1869879" h="1764486" extrusionOk="0">
                <a:moveTo>
                  <a:pt x="0" y="0"/>
                </a:moveTo>
                <a:lnTo>
                  <a:pt x="1869879" y="0"/>
                </a:lnTo>
                <a:lnTo>
                  <a:pt x="1869879" y="1764486"/>
                </a:lnTo>
                <a:lnTo>
                  <a:pt x="0" y="1764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0" name="Google Shape;190;p21"/>
          <p:cNvSpPr/>
          <p:nvPr/>
        </p:nvSpPr>
        <p:spPr>
          <a:xfrm rot="-2523704">
            <a:off x="808702" y="870021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 rot="3786892">
            <a:off x="16748654" y="626192"/>
            <a:ext cx="853574" cy="805463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22"/>
          <p:cNvSpPr/>
          <p:nvPr/>
        </p:nvSpPr>
        <p:spPr>
          <a:xfrm rot="-2523704">
            <a:off x="251870" y="626192"/>
            <a:ext cx="853102" cy="805018"/>
          </a:xfrm>
          <a:custGeom>
            <a:avLst/>
            <a:gdLst/>
            <a:ahLst/>
            <a:cxnLst/>
            <a:rect l="l" t="t" r="r" b="b"/>
            <a:pathLst>
              <a:path w="853014" h="804935" extrusionOk="0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22"/>
          <p:cNvSpPr/>
          <p:nvPr/>
        </p:nvSpPr>
        <p:spPr>
          <a:xfrm rot="-2523704">
            <a:off x="6242681" y="-501152"/>
            <a:ext cx="1809195" cy="1707222"/>
          </a:xfrm>
          <a:custGeom>
            <a:avLst/>
            <a:gdLst/>
            <a:ahLst/>
            <a:cxnLst/>
            <a:rect l="l" t="t" r="r" b="b"/>
            <a:pathLst>
              <a:path w="1809008" h="1707046" extrusionOk="0">
                <a:moveTo>
                  <a:pt x="0" y="0"/>
                </a:moveTo>
                <a:lnTo>
                  <a:pt x="1809008" y="0"/>
                </a:lnTo>
                <a:lnTo>
                  <a:pt x="1809008" y="1707046"/>
                </a:lnTo>
                <a:lnTo>
                  <a:pt x="0" y="17070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22"/>
          <p:cNvSpPr/>
          <p:nvPr/>
        </p:nvSpPr>
        <p:spPr>
          <a:xfrm rot="-2523704">
            <a:off x="-554608" y="9164248"/>
            <a:ext cx="1849812" cy="1745550"/>
          </a:xfrm>
          <a:custGeom>
            <a:avLst/>
            <a:gdLst/>
            <a:ahLst/>
            <a:cxnLst/>
            <a:rect l="l" t="t" r="r" b="b"/>
            <a:pathLst>
              <a:path w="1849621" h="1745370" extrusionOk="0">
                <a:moveTo>
                  <a:pt x="0" y="0"/>
                </a:moveTo>
                <a:lnTo>
                  <a:pt x="1849622" y="0"/>
                </a:lnTo>
                <a:lnTo>
                  <a:pt x="1849622" y="1745370"/>
                </a:lnTo>
                <a:lnTo>
                  <a:pt x="0" y="174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9" name="Google Shape;199;p22"/>
          <p:cNvSpPr txBox="1"/>
          <p:nvPr/>
        </p:nvSpPr>
        <p:spPr>
          <a:xfrm>
            <a:off x="2982150" y="864191"/>
            <a:ext cx="123237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1">
                <a:solidFill>
                  <a:srgbClr val="925000"/>
                </a:solidFill>
                <a:latin typeface="Changa One"/>
                <a:ea typeface="Changa One"/>
                <a:cs typeface="Changa One"/>
                <a:sym typeface="Changa One"/>
              </a:rPr>
              <a:t>Appendix</a:t>
            </a:r>
            <a:endParaRPr>
              <a:latin typeface="Changa One"/>
              <a:ea typeface="Changa One"/>
              <a:cs typeface="Changa One"/>
              <a:sym typeface="Changa One"/>
            </a:endParaRPr>
          </a:p>
        </p:txBody>
      </p:sp>
      <p:sp>
        <p:nvSpPr>
          <p:cNvPr id="200" name="Google Shape;200;p22"/>
          <p:cNvSpPr/>
          <p:nvPr/>
        </p:nvSpPr>
        <p:spPr>
          <a:xfrm rot="-614386">
            <a:off x="15303785" y="8766023"/>
            <a:ext cx="2983126" cy="1513757"/>
          </a:xfrm>
          <a:custGeom>
            <a:avLst/>
            <a:gdLst/>
            <a:ahLst/>
            <a:cxnLst/>
            <a:rect l="l" t="t" r="r" b="b"/>
            <a:pathLst>
              <a:path w="7575773" h="4384479" extrusionOk="0">
                <a:moveTo>
                  <a:pt x="0" y="0"/>
                </a:moveTo>
                <a:lnTo>
                  <a:pt x="7575774" y="0"/>
                </a:lnTo>
                <a:lnTo>
                  <a:pt x="7575774" y="4384479"/>
                </a:lnTo>
                <a:lnTo>
                  <a:pt x="0" y="4384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01" name="Google Shape;20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700" y="2850300"/>
            <a:ext cx="1453515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770700" y="2258883"/>
            <a:ext cx="129984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>
                <a:latin typeface="Merriweather"/>
                <a:ea typeface="Merriweather"/>
                <a:cs typeface="Merriweather"/>
                <a:sym typeface="Merriweather"/>
              </a:rPr>
              <a:t>Original Dataset</a:t>
            </a:r>
            <a:endParaRPr sz="3499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770700" y="5543825"/>
            <a:ext cx="17236800" cy="106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dirty="0">
                <a:latin typeface="Merriweather"/>
                <a:ea typeface="Merriweather"/>
                <a:cs typeface="Merriweather"/>
                <a:sym typeface="Merriweather"/>
              </a:rPr>
              <a:t>Cleaned Dataset – got rid of crossing column which was filled with NA values, converted age to int, cleaned names and values, etc.</a:t>
            </a:r>
            <a:endParaRPr sz="2999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200" y="6668574"/>
            <a:ext cx="14512162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1851050" y="9414967"/>
            <a:ext cx="129984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>
                <a:latin typeface="Merriweather"/>
                <a:ea typeface="Merriweather"/>
                <a:cs typeface="Merriweather"/>
                <a:sym typeface="Merriweather"/>
              </a:rPr>
              <a:t>Dataset link: </a:t>
            </a:r>
            <a:r>
              <a:rPr lang="en-US" sz="3499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7"/>
              </a:rPr>
              <a:t>https://catalog.data.gov/dataset/adoptable-pets</a:t>
            </a:r>
            <a:endParaRPr sz="3499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Custom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Changa One</vt:lpstr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Jismi Mathew</dc:creator>
  <cp:lastModifiedBy>Jismi Mathew</cp:lastModifiedBy>
  <cp:revision>1</cp:revision>
  <dcterms:modified xsi:type="dcterms:W3CDTF">2025-12-17T13:58:08Z</dcterms:modified>
</cp:coreProperties>
</file>